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Roboto"/>
      <p:regular r:id="rId19"/>
      <p:bold r:id="rId20"/>
      <p:italic r:id="rId21"/>
      <p:boldItalic r:id="rId22"/>
    </p:embeddedFon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Italic.fntdata"/><Relationship Id="rId25"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19" Type="http://schemas.openxmlformats.org/officeDocument/2006/relationships/font" Target="fonts/Roboto-regular.fntdata"/><Relationship Id="rId18" Type="http://schemas.openxmlformats.org/officeDocument/2006/relationships/font" Target="fonts/Raleway-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b9a0b0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b9a0b0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504ed63f9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504ed63f9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d5b15f0a3_5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d5b15f0a3_5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72363054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72363054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cb9a0b074_1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cb9a0b074_1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d251bb473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d251bb473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504ed63f9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504ed63f9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504ed63f9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504ed63f9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504ed63f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504ed63f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4800"/>
              <a:buNone/>
              <a:defRPr sz="4800">
                <a:solidFill>
                  <a:schemeClr val="lt1"/>
                </a:solidFill>
              </a:defRPr>
            </a:lvl2pPr>
            <a:lvl3pPr lvl="2" rtl="0" algn="ctr">
              <a:spcBef>
                <a:spcPts val="0"/>
              </a:spcBef>
              <a:spcAft>
                <a:spcPts val="0"/>
              </a:spcAft>
              <a:buClr>
                <a:schemeClr val="lt1"/>
              </a:buClr>
              <a:buSzPts val="4800"/>
              <a:buNone/>
              <a:defRPr sz="4800">
                <a:solidFill>
                  <a:schemeClr val="lt1"/>
                </a:solidFill>
              </a:defRPr>
            </a:lvl3pPr>
            <a:lvl4pPr lvl="3" rtl="0" algn="ctr">
              <a:spcBef>
                <a:spcPts val="0"/>
              </a:spcBef>
              <a:spcAft>
                <a:spcPts val="0"/>
              </a:spcAft>
              <a:buClr>
                <a:schemeClr val="lt1"/>
              </a:buClr>
              <a:buSzPts val="4800"/>
              <a:buNone/>
              <a:defRPr sz="4800">
                <a:solidFill>
                  <a:schemeClr val="lt1"/>
                </a:solidFill>
              </a:defRPr>
            </a:lvl4pPr>
            <a:lvl5pPr lvl="4" rtl="0" algn="ctr">
              <a:spcBef>
                <a:spcPts val="0"/>
              </a:spcBef>
              <a:spcAft>
                <a:spcPts val="0"/>
              </a:spcAft>
              <a:buClr>
                <a:schemeClr val="lt1"/>
              </a:buClr>
              <a:buSzPts val="4800"/>
              <a:buNone/>
              <a:defRPr sz="4800">
                <a:solidFill>
                  <a:schemeClr val="lt1"/>
                </a:solidFill>
              </a:defRPr>
            </a:lvl5pPr>
            <a:lvl6pPr lvl="5" rtl="0" algn="ctr">
              <a:spcBef>
                <a:spcPts val="0"/>
              </a:spcBef>
              <a:spcAft>
                <a:spcPts val="0"/>
              </a:spcAft>
              <a:buClr>
                <a:schemeClr val="lt1"/>
              </a:buClr>
              <a:buSzPts val="4800"/>
              <a:buNone/>
              <a:defRPr sz="4800">
                <a:solidFill>
                  <a:schemeClr val="lt1"/>
                </a:solidFill>
              </a:defRPr>
            </a:lvl6pPr>
            <a:lvl7pPr lvl="6" rtl="0" algn="ctr">
              <a:spcBef>
                <a:spcPts val="0"/>
              </a:spcBef>
              <a:spcAft>
                <a:spcPts val="0"/>
              </a:spcAft>
              <a:buClr>
                <a:schemeClr val="lt1"/>
              </a:buClr>
              <a:buSzPts val="4800"/>
              <a:buNone/>
              <a:defRPr sz="4800">
                <a:solidFill>
                  <a:schemeClr val="lt1"/>
                </a:solidFill>
              </a:defRPr>
            </a:lvl7pPr>
            <a:lvl8pPr lvl="7" rtl="0" algn="ctr">
              <a:spcBef>
                <a:spcPts val="0"/>
              </a:spcBef>
              <a:spcAft>
                <a:spcPts val="0"/>
              </a:spcAft>
              <a:buClr>
                <a:schemeClr val="lt1"/>
              </a:buClr>
              <a:buSzPts val="4800"/>
              <a:buNone/>
              <a:defRPr sz="4800">
                <a:solidFill>
                  <a:schemeClr val="lt1"/>
                </a:solidFill>
              </a:defRPr>
            </a:lvl8pPr>
            <a:lvl9pPr lvl="8" rtl="0"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353535"/>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3600"/>
              <a:buNone/>
              <a:defRPr sz="3600">
                <a:solidFill>
                  <a:schemeClr val="dk1"/>
                </a:solidFill>
              </a:defRPr>
            </a:lvl1pPr>
            <a:lvl2pPr lvl="1" rtl="0" algn="ctr">
              <a:spcBef>
                <a:spcPts val="0"/>
              </a:spcBef>
              <a:spcAft>
                <a:spcPts val="0"/>
              </a:spcAft>
              <a:buClr>
                <a:schemeClr val="dk1"/>
              </a:buClr>
              <a:buSzPts val="3600"/>
              <a:buNone/>
              <a:defRPr sz="3600">
                <a:solidFill>
                  <a:schemeClr val="dk1"/>
                </a:solidFill>
              </a:defRPr>
            </a:lvl2pPr>
            <a:lvl3pPr lvl="2" rtl="0" algn="ctr">
              <a:spcBef>
                <a:spcPts val="0"/>
              </a:spcBef>
              <a:spcAft>
                <a:spcPts val="0"/>
              </a:spcAft>
              <a:buClr>
                <a:schemeClr val="dk1"/>
              </a:buClr>
              <a:buSzPts val="3600"/>
              <a:buNone/>
              <a:defRPr sz="3600">
                <a:solidFill>
                  <a:schemeClr val="dk1"/>
                </a:solidFill>
              </a:defRPr>
            </a:lvl3pPr>
            <a:lvl4pPr lvl="3" rtl="0" algn="ctr">
              <a:spcBef>
                <a:spcPts val="0"/>
              </a:spcBef>
              <a:spcAft>
                <a:spcPts val="0"/>
              </a:spcAft>
              <a:buClr>
                <a:schemeClr val="dk1"/>
              </a:buClr>
              <a:buSzPts val="3600"/>
              <a:buNone/>
              <a:defRPr sz="3600">
                <a:solidFill>
                  <a:schemeClr val="dk1"/>
                </a:solidFill>
              </a:defRPr>
            </a:lvl4pPr>
            <a:lvl5pPr lvl="4" rtl="0" algn="ctr">
              <a:spcBef>
                <a:spcPts val="0"/>
              </a:spcBef>
              <a:spcAft>
                <a:spcPts val="0"/>
              </a:spcAft>
              <a:buClr>
                <a:schemeClr val="dk1"/>
              </a:buClr>
              <a:buSzPts val="3600"/>
              <a:buNone/>
              <a:defRPr sz="3600">
                <a:solidFill>
                  <a:schemeClr val="dk1"/>
                </a:solidFill>
              </a:defRPr>
            </a:lvl5pPr>
            <a:lvl6pPr lvl="5" rtl="0" algn="ctr">
              <a:spcBef>
                <a:spcPts val="0"/>
              </a:spcBef>
              <a:spcAft>
                <a:spcPts val="0"/>
              </a:spcAft>
              <a:buClr>
                <a:schemeClr val="dk1"/>
              </a:buClr>
              <a:buSzPts val="3600"/>
              <a:buNone/>
              <a:defRPr sz="3600">
                <a:solidFill>
                  <a:schemeClr val="dk1"/>
                </a:solidFill>
              </a:defRPr>
            </a:lvl6pPr>
            <a:lvl7pPr lvl="6" rtl="0" algn="ctr">
              <a:spcBef>
                <a:spcPts val="0"/>
              </a:spcBef>
              <a:spcAft>
                <a:spcPts val="0"/>
              </a:spcAft>
              <a:buClr>
                <a:schemeClr val="dk1"/>
              </a:buClr>
              <a:buSzPts val="3600"/>
              <a:buNone/>
              <a:defRPr sz="3600">
                <a:solidFill>
                  <a:schemeClr val="dk1"/>
                </a:solidFill>
              </a:defRPr>
            </a:lvl7pPr>
            <a:lvl8pPr lvl="7" rtl="0" algn="ctr">
              <a:spcBef>
                <a:spcPts val="0"/>
              </a:spcBef>
              <a:spcAft>
                <a:spcPts val="0"/>
              </a:spcAft>
              <a:buClr>
                <a:schemeClr val="dk1"/>
              </a:buClr>
              <a:buSzPts val="3600"/>
              <a:buNone/>
              <a:defRPr sz="3600">
                <a:solidFill>
                  <a:schemeClr val="dk1"/>
                </a:solidFill>
              </a:defRPr>
            </a:lvl8pPr>
            <a:lvl9pPr lvl="8" rtl="0"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Lato"/>
                <a:ea typeface="Lato"/>
                <a:cs typeface="Lato"/>
                <a:sym typeface="Lato"/>
              </a:defRPr>
            </a:lvl1pPr>
            <a:lvl2pPr lvl="1" rtl="0" algn="r">
              <a:buNone/>
              <a:defRPr sz="1000">
                <a:solidFill>
                  <a:schemeClr val="dk2"/>
                </a:solidFill>
                <a:latin typeface="Lato"/>
                <a:ea typeface="Lato"/>
                <a:cs typeface="Lato"/>
                <a:sym typeface="Lato"/>
              </a:defRPr>
            </a:lvl2pPr>
            <a:lvl3pPr lvl="2" rtl="0" algn="r">
              <a:buNone/>
              <a:defRPr sz="1000">
                <a:solidFill>
                  <a:schemeClr val="dk2"/>
                </a:solidFill>
                <a:latin typeface="Lato"/>
                <a:ea typeface="Lato"/>
                <a:cs typeface="Lato"/>
                <a:sym typeface="Lato"/>
              </a:defRPr>
            </a:lvl3pPr>
            <a:lvl4pPr lvl="3" rtl="0" algn="r">
              <a:buNone/>
              <a:defRPr sz="1000">
                <a:solidFill>
                  <a:schemeClr val="dk2"/>
                </a:solidFill>
                <a:latin typeface="Lato"/>
                <a:ea typeface="Lato"/>
                <a:cs typeface="Lato"/>
                <a:sym typeface="Lato"/>
              </a:defRPr>
            </a:lvl4pPr>
            <a:lvl5pPr lvl="4" rtl="0" algn="r">
              <a:buNone/>
              <a:defRPr sz="1000">
                <a:solidFill>
                  <a:schemeClr val="dk2"/>
                </a:solidFill>
                <a:latin typeface="Lato"/>
                <a:ea typeface="Lato"/>
                <a:cs typeface="Lato"/>
                <a:sym typeface="Lato"/>
              </a:defRPr>
            </a:lvl5pPr>
            <a:lvl6pPr lvl="5" rtl="0" algn="r">
              <a:buNone/>
              <a:defRPr sz="1000">
                <a:solidFill>
                  <a:schemeClr val="dk2"/>
                </a:solidFill>
                <a:latin typeface="Lato"/>
                <a:ea typeface="Lato"/>
                <a:cs typeface="Lato"/>
                <a:sym typeface="Lato"/>
              </a:defRPr>
            </a:lvl6pPr>
            <a:lvl7pPr lvl="6" rtl="0" algn="r">
              <a:buNone/>
              <a:defRPr sz="1000">
                <a:solidFill>
                  <a:schemeClr val="dk2"/>
                </a:solidFill>
                <a:latin typeface="Lato"/>
                <a:ea typeface="Lato"/>
                <a:cs typeface="Lato"/>
                <a:sym typeface="Lato"/>
              </a:defRPr>
            </a:lvl7pPr>
            <a:lvl8pPr lvl="7" rtl="0" algn="r">
              <a:buNone/>
              <a:defRPr sz="1000">
                <a:solidFill>
                  <a:schemeClr val="dk2"/>
                </a:solidFill>
                <a:latin typeface="Lato"/>
                <a:ea typeface="Lato"/>
                <a:cs typeface="Lato"/>
                <a:sym typeface="Lato"/>
              </a:defRPr>
            </a:lvl8pPr>
            <a:lvl9pPr lvl="8" rtl="0"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2448325" y="630225"/>
            <a:ext cx="6255000" cy="255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500"/>
              <a:t>Dynamic</a:t>
            </a:r>
            <a:r>
              <a:rPr lang="en" sz="4500"/>
              <a:t> Rails</a:t>
            </a:r>
            <a:endParaRPr sz="4500"/>
          </a:p>
        </p:txBody>
      </p:sp>
      <p:sp>
        <p:nvSpPr>
          <p:cNvPr id="73" name="Google Shape;73;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b="1"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Action Cable</a:t>
            </a:r>
            <a:endParaRPr/>
          </a:p>
        </p:txBody>
      </p:sp>
      <p:sp>
        <p:nvSpPr>
          <p:cNvPr id="79" name="Google Shape;79;p14"/>
          <p:cNvSpPr txBox="1"/>
          <p:nvPr>
            <p:ph idx="1" type="body"/>
          </p:nvPr>
        </p:nvSpPr>
        <p:spPr>
          <a:xfrm>
            <a:off x="2410100" y="1595775"/>
            <a:ext cx="6321600" cy="318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Broadcasting is the concept of using websockets to communicate </a:t>
            </a:r>
            <a:r>
              <a:rPr lang="en" sz="1400"/>
              <a:t>real time</a:t>
            </a:r>
            <a:r>
              <a:rPr lang="en" sz="1400"/>
              <a:t> updates from a server. So the concept works by client subscribing to an action cable channel this will be done on js side once subscribing is done in network we see that a connection will be established with cable and channel once this is done now the client will wait for a broadcast from server which can be anything from anywhere in the server for e.g a background worker in this case we are saving our resources. For e.g we make a request to server with an image and then do all the processing on the image in background once done we broadcast image url and record id back to be associated to the form.</a:t>
            </a:r>
            <a:endParaRPr sz="1400"/>
          </a:p>
          <a:p>
            <a:pPr indent="0" lvl="0" marL="0" rtl="0" algn="l">
              <a:spcBef>
                <a:spcPts val="1600"/>
              </a:spcBef>
              <a:spcAft>
                <a:spcPts val="0"/>
              </a:spcAft>
              <a:buNone/>
            </a:pPr>
            <a:r>
              <a:rPr lang="en" sz="1400"/>
              <a:t>Demo:</a:t>
            </a:r>
            <a:endParaRPr sz="1400"/>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What is Hotwire turbo</a:t>
            </a:r>
            <a:endParaRPr sz="2400"/>
          </a:p>
        </p:txBody>
      </p:sp>
      <p:sp>
        <p:nvSpPr>
          <p:cNvPr id="85" name="Google Shape;85;p15"/>
          <p:cNvSpPr txBox="1"/>
          <p:nvPr>
            <p:ph idx="4294967295" type="title"/>
          </p:nvPr>
        </p:nvSpPr>
        <p:spPr>
          <a:xfrm>
            <a:off x="535775" y="1480150"/>
            <a:ext cx="5197200" cy="3067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0" lang="en" sz="1800">
                <a:latin typeface="Lato"/>
                <a:ea typeface="Lato"/>
                <a:cs typeface="Lato"/>
                <a:sym typeface="Lato"/>
              </a:rPr>
              <a:t>Hotwire turbo is a way to pass html directly over the wire(from the server( to a certain frame. Which can help as in creating dynamic and interactive components(partials) faster with few lines of code and be less resource intensive to browser. The format used to communicate with server used when trying to make server respond to turbo is turbostream.</a:t>
            </a:r>
            <a:endParaRPr sz="1700">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9" name="Shape 89"/>
        <p:cNvGrpSpPr/>
        <p:nvPr/>
      </p:nvGrpSpPr>
      <p:grpSpPr>
        <a:xfrm>
          <a:off x="0" y="0"/>
          <a:ext cx="0" cy="0"/>
          <a:chOff x="0" y="0"/>
          <a:chExt cx="0" cy="0"/>
        </a:xfrm>
      </p:grpSpPr>
      <p:pic>
        <p:nvPicPr>
          <p:cNvPr id="90" name="Google Shape;90;p16"/>
          <p:cNvPicPr preferRelativeResize="0"/>
          <p:nvPr/>
        </p:nvPicPr>
        <p:blipFill>
          <a:blip r:embed="rId3">
            <a:alphaModFix/>
          </a:blip>
          <a:stretch>
            <a:fillRect/>
          </a:stretch>
        </p:blipFill>
        <p:spPr>
          <a:xfrm>
            <a:off x="152400" y="152400"/>
            <a:ext cx="8602133" cy="4838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4" name="Shape 94"/>
        <p:cNvGrpSpPr/>
        <p:nvPr/>
      </p:nvGrpSpPr>
      <p:grpSpPr>
        <a:xfrm>
          <a:off x="0" y="0"/>
          <a:ext cx="0" cy="0"/>
          <a:chOff x="0" y="0"/>
          <a:chExt cx="0" cy="0"/>
        </a:xfrm>
      </p:grpSpPr>
      <p:pic>
        <p:nvPicPr>
          <p:cNvPr id="95" name="Google Shape;95;p17"/>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Piece of duct tape sticking a note to the slide" id="96" name="Google Shape;96;p17"/>
          <p:cNvPicPr preferRelativeResize="0"/>
          <p:nvPr/>
        </p:nvPicPr>
        <p:blipFill rotWithShape="1">
          <a:blip r:embed="rId4">
            <a:alphaModFix/>
          </a:blip>
          <a:srcRect b="10011" l="9244" r="2118" t="5926"/>
          <a:stretch/>
        </p:blipFill>
        <p:spPr>
          <a:xfrm rot="154828">
            <a:off x="3536000" y="147301"/>
            <a:ext cx="2072000" cy="736050"/>
          </a:xfrm>
          <a:prstGeom prst="rect">
            <a:avLst/>
          </a:prstGeom>
          <a:noFill/>
          <a:ln>
            <a:noFill/>
          </a:ln>
        </p:spPr>
      </p:pic>
      <p:sp>
        <p:nvSpPr>
          <p:cNvPr id="97" name="Google Shape;97;p17"/>
          <p:cNvSpPr txBox="1"/>
          <p:nvPr/>
        </p:nvSpPr>
        <p:spPr>
          <a:xfrm>
            <a:off x="2885950" y="1094472"/>
            <a:ext cx="34329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What is turbostream</a:t>
            </a:r>
            <a:endParaRPr b="1" sz="3000">
              <a:solidFill>
                <a:schemeClr val="lt2"/>
              </a:solidFill>
              <a:latin typeface="Raleway"/>
              <a:ea typeface="Raleway"/>
              <a:cs typeface="Raleway"/>
              <a:sym typeface="Raleway"/>
            </a:endParaRPr>
          </a:p>
        </p:txBody>
      </p:sp>
      <p:sp>
        <p:nvSpPr>
          <p:cNvPr id="98" name="Google Shape;98;p17"/>
          <p:cNvSpPr txBox="1"/>
          <p:nvPr>
            <p:ph idx="4294967295" type="body"/>
          </p:nvPr>
        </p:nvSpPr>
        <p:spPr>
          <a:xfrm>
            <a:off x="2910275" y="2021923"/>
            <a:ext cx="3432900" cy="26505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Font typeface="Arial"/>
              <a:buChar char="●"/>
            </a:pPr>
            <a:r>
              <a:rPr lang="en" sz="1400">
                <a:latin typeface="Arial"/>
                <a:ea typeface="Arial"/>
                <a:cs typeface="Arial"/>
                <a:sym typeface="Arial"/>
              </a:rPr>
              <a:t>TurboStreams is a feature in Rails that allows for real-time streaming of data between the server and the client.</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Char char="●"/>
            </a:pPr>
            <a:r>
              <a:rPr lang="en" sz="1400">
                <a:latin typeface="Arial"/>
                <a:ea typeface="Arial"/>
                <a:cs typeface="Arial"/>
                <a:sym typeface="Arial"/>
              </a:rPr>
              <a:t>The server can respond to turbo stream request and do interactions to dom via turboframes.</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Char char="●"/>
            </a:pPr>
            <a:r>
              <a:rPr lang="en" sz="1400">
                <a:latin typeface="Arial"/>
                <a:ea typeface="Arial"/>
                <a:cs typeface="Arial"/>
                <a:sym typeface="Arial"/>
              </a:rPr>
              <a:t>The interactions can be update, replace, append, remove</a:t>
            </a:r>
            <a:endParaRPr sz="1400">
              <a:latin typeface="Arial"/>
              <a:ea typeface="Arial"/>
              <a:cs typeface="Arial"/>
              <a:sym typeface="Arial"/>
            </a:endParaRPr>
          </a:p>
          <a:p>
            <a:pPr indent="-317500" lvl="0" marL="457200" rtl="0" algn="l">
              <a:lnSpc>
                <a:spcPct val="100000"/>
              </a:lnSpc>
              <a:spcBef>
                <a:spcPts val="0"/>
              </a:spcBef>
              <a:spcAft>
                <a:spcPts val="0"/>
              </a:spcAft>
              <a:buSzPts val="1400"/>
              <a:buFont typeface="Arial"/>
              <a:buChar char="●"/>
            </a:pPr>
            <a:r>
              <a:rPr lang="en" sz="1400">
                <a:latin typeface="Arial"/>
                <a:ea typeface="Arial"/>
                <a:cs typeface="Arial"/>
                <a:sym typeface="Arial"/>
              </a:rPr>
              <a:t>If a turbostream tag is used in html it can be used to broadcast real time updates via Action Cable.</a:t>
            </a:r>
            <a:endParaRPr sz="1400">
              <a:latin typeface="Arial"/>
              <a:ea typeface="Arial"/>
              <a:cs typeface="Arial"/>
              <a:sym typeface="Arial"/>
            </a:endParaRPr>
          </a:p>
          <a:p>
            <a:pPr indent="0" lvl="0" marL="0" rtl="0" algn="l">
              <a:lnSpc>
                <a:spcPct val="100000"/>
              </a:lnSpc>
              <a:spcBef>
                <a:spcPts val="0"/>
              </a:spcBef>
              <a:spcAft>
                <a:spcPts val="0"/>
              </a:spcAft>
              <a:buClr>
                <a:schemeClr val="dk2"/>
              </a:buClr>
              <a:buSzPts val="1100"/>
              <a:buFont typeface="Arial"/>
              <a:buNone/>
            </a:pPr>
            <a:r>
              <a:rPr lang="en" sz="1400">
                <a:latin typeface="Arial"/>
                <a:ea typeface="Arial"/>
                <a:cs typeface="Arial"/>
                <a:sym typeface="Arial"/>
              </a:rPr>
              <a:t>I</a:t>
            </a:r>
            <a:endParaRPr sz="1400">
              <a:latin typeface="Arial"/>
              <a:ea typeface="Arial"/>
              <a:cs typeface="Arial"/>
              <a:sym typeface="Arial"/>
            </a:endParaRPr>
          </a:p>
          <a:p>
            <a:pPr indent="0" lvl="0" marL="0" rtl="0" algn="l">
              <a:lnSpc>
                <a:spcPct val="100000"/>
              </a:lnSpc>
              <a:spcBef>
                <a:spcPts val="0"/>
              </a:spcBef>
              <a:spcAft>
                <a:spcPts val="0"/>
              </a:spcAft>
              <a:buClr>
                <a:schemeClr val="dk2"/>
              </a:buClr>
              <a:buSzPts val="1100"/>
              <a:buFont typeface="Arial"/>
              <a:buNone/>
            </a:pPr>
            <a:r>
              <a:t/>
            </a:r>
            <a:endParaRPr sz="1200">
              <a:solidFill>
                <a:srgbClr val="D1D5DB"/>
              </a:solidFill>
              <a:highlight>
                <a:srgbClr val="000000"/>
              </a:highlight>
              <a:latin typeface="Roboto"/>
              <a:ea typeface="Roboto"/>
              <a:cs typeface="Roboto"/>
              <a:sym typeface="Roboto"/>
            </a:endParaRPr>
          </a:p>
        </p:txBody>
      </p:sp>
      <p:sp>
        <p:nvSpPr>
          <p:cNvPr id="99" name="Google Shape;99;p1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00" name="Google Shape;100;p1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283100" y="712150"/>
            <a:ext cx="8631600" cy="38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does the server responds?</a:t>
            </a:r>
            <a:endParaRPr>
              <a:solidFill>
                <a:schemeClr val="accent5"/>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nvSpPr>
        <p:spPr>
          <a:xfrm>
            <a:off x="-18750" y="1046775"/>
            <a:ext cx="91815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turbo_stream.update("#{dom_id(@article)}_final_images",</a:t>
            </a:r>
            <a:endParaRPr/>
          </a:p>
          <a:p>
            <a:pPr indent="0" lvl="0" marL="0" rtl="0" algn="l">
              <a:spcBef>
                <a:spcPts val="0"/>
              </a:spcBef>
              <a:spcAft>
                <a:spcPts val="0"/>
              </a:spcAft>
              <a:buNone/>
            </a:pPr>
            <a:r>
              <a:rPr lang="en"/>
              <a:t>            partial: 'articles/final_images/final_images_preview', locals: { article: @article })</a:t>
            </a:r>
            <a:br>
              <a:rPr lang="en"/>
            </a:br>
            <a:r>
              <a:rPr lang="en">
                <a:solidFill>
                  <a:schemeClr val="dk2"/>
                </a:solidFill>
              </a:rPr>
              <a:t>turbo_stream.update_all("#{dom_id(@article)}_final_images",</a:t>
            </a:r>
            <a:endParaRPr>
              <a:solidFill>
                <a:schemeClr val="dk2"/>
              </a:solidFill>
            </a:endParaRPr>
          </a:p>
          <a:p>
            <a:pPr indent="0" lvl="0" marL="0" rtl="0" algn="l">
              <a:spcBef>
                <a:spcPts val="0"/>
              </a:spcBef>
              <a:spcAft>
                <a:spcPts val="0"/>
              </a:spcAft>
              <a:buNone/>
            </a:pPr>
            <a:r>
              <a:rPr lang="en">
                <a:solidFill>
                  <a:schemeClr val="dk2"/>
                </a:solidFill>
              </a:rPr>
              <a:t>            partial: 'articles/final_images/final_images_preview', locals: { article: @article })</a:t>
            </a:r>
            <a:br>
              <a:rPr lang="en">
                <a:solidFill>
                  <a:schemeClr val="dk2"/>
                </a:solidFill>
              </a:rPr>
            </a:br>
            <a:r>
              <a:rPr lang="en">
                <a:solidFill>
                  <a:schemeClr val="dk2"/>
                </a:solidFill>
              </a:rPr>
              <a:t>turbo_stream.replace("#{dom_id(@article)}_final_images",</a:t>
            </a:r>
            <a:endParaRPr>
              <a:solidFill>
                <a:schemeClr val="dk2"/>
              </a:solidFill>
            </a:endParaRPr>
          </a:p>
          <a:p>
            <a:pPr indent="0" lvl="0" marL="0" rtl="0" algn="l">
              <a:spcBef>
                <a:spcPts val="0"/>
              </a:spcBef>
              <a:spcAft>
                <a:spcPts val="0"/>
              </a:spcAft>
              <a:buNone/>
            </a:pPr>
            <a:r>
              <a:rPr lang="en">
                <a:solidFill>
                  <a:schemeClr val="dk2"/>
                </a:solidFill>
              </a:rPr>
              <a:t>            partial: 'articles/final_images/final_images_preview', locals: { article: @article })</a:t>
            </a:r>
            <a:endParaRPr>
              <a:solidFill>
                <a:schemeClr val="dk2"/>
              </a:solidFill>
            </a:endParaRPr>
          </a:p>
          <a:p>
            <a:pPr indent="0" lvl="0" marL="0" rtl="0" algn="l">
              <a:spcBef>
                <a:spcPts val="0"/>
              </a:spcBef>
              <a:spcAft>
                <a:spcPts val="0"/>
              </a:spcAft>
              <a:buNone/>
            </a:pPr>
            <a:r>
              <a:rPr lang="en">
                <a:solidFill>
                  <a:schemeClr val="dk2"/>
                </a:solidFill>
              </a:rPr>
              <a:t>turbo_stream.append("#{dom_id(@article)}_final_images",</a:t>
            </a:r>
            <a:endParaRPr>
              <a:solidFill>
                <a:schemeClr val="dk2"/>
              </a:solidFill>
            </a:endParaRPr>
          </a:p>
          <a:p>
            <a:pPr indent="0" lvl="0" marL="0" rtl="0" algn="l">
              <a:spcBef>
                <a:spcPts val="0"/>
              </a:spcBef>
              <a:spcAft>
                <a:spcPts val="0"/>
              </a:spcAft>
              <a:buNone/>
            </a:pPr>
            <a:r>
              <a:rPr lang="en">
                <a:solidFill>
                  <a:schemeClr val="dk2"/>
                </a:solidFill>
              </a:rPr>
              <a:t>            partial: 'articles/final_images/final_images_preview', locals: { article: @article })</a:t>
            </a:r>
            <a:endParaRPr>
              <a:solidFill>
                <a:schemeClr val="dk2"/>
              </a:solidFill>
            </a:endParaRPr>
          </a:p>
          <a:p>
            <a:pPr indent="0" lvl="0" marL="0" rtl="0" algn="l">
              <a:spcBef>
                <a:spcPts val="0"/>
              </a:spcBef>
              <a:spcAft>
                <a:spcPts val="0"/>
              </a:spcAft>
              <a:buNone/>
            </a:pPr>
            <a:r>
              <a:rPr lang="en">
                <a:solidFill>
                  <a:schemeClr val="dk2"/>
                </a:solidFill>
              </a:rPr>
              <a:t>turbo_stream.prepend("#{dom_id(@article)}_final_images",</a:t>
            </a:r>
            <a:endParaRPr>
              <a:solidFill>
                <a:schemeClr val="dk2"/>
              </a:solidFill>
            </a:endParaRPr>
          </a:p>
          <a:p>
            <a:pPr indent="0" lvl="0" marL="0" rtl="0" algn="l">
              <a:spcBef>
                <a:spcPts val="0"/>
              </a:spcBef>
              <a:spcAft>
                <a:spcPts val="0"/>
              </a:spcAft>
              <a:buNone/>
            </a:pPr>
            <a:r>
              <a:rPr lang="en">
                <a:solidFill>
                  <a:schemeClr val="dk2"/>
                </a:solidFill>
              </a:rPr>
              <a:t>            partial: 'articles/final_images/final_images_preview', locals: { article: @article })</a:t>
            </a:r>
            <a:br>
              <a:rPr lang="en">
                <a:solidFill>
                  <a:schemeClr val="dk2"/>
                </a:solidFill>
              </a:rPr>
            </a:br>
            <a:br>
              <a:rPr lang="en">
                <a:solidFill>
                  <a:schemeClr val="dk2"/>
                </a:solidFill>
              </a:rPr>
            </a:br>
            <a:br>
              <a:rPr lang="en">
                <a:solidFill>
                  <a:schemeClr val="dk2"/>
                </a:solidFill>
              </a:rPr>
            </a:br>
            <a:r>
              <a:rPr lang="en">
                <a:solidFill>
                  <a:schemeClr val="dk2"/>
                </a:solidFill>
              </a:rPr>
              <a:t>This is basically a turbostream html tag that is returned with the partial as a template which will perform the action attribute defined on any tag with target id.</a:t>
            </a:r>
            <a:endParaRPr/>
          </a:p>
        </p:txBody>
      </p:sp>
      <p:sp>
        <p:nvSpPr>
          <p:cNvPr id="111" name="Google Shape;111;p19"/>
          <p:cNvSpPr txBox="1"/>
          <p:nvPr/>
        </p:nvSpPr>
        <p:spPr>
          <a:xfrm>
            <a:off x="109200" y="566050"/>
            <a:ext cx="783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The server communicates via the dom updates via these</a:t>
            </a:r>
            <a:endParaRPr>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2400250" y="575950"/>
            <a:ext cx="6321600" cy="101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Perform Dynamic actions on a dom via turboframes</a:t>
            </a:r>
            <a:endParaRPr/>
          </a:p>
        </p:txBody>
      </p:sp>
      <p:sp>
        <p:nvSpPr>
          <p:cNvPr id="117" name="Google Shape;117;p20"/>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Another way we can use </a:t>
            </a:r>
            <a:r>
              <a:rPr lang="en"/>
              <a:t>turbo frames</a:t>
            </a:r>
            <a:r>
              <a:rPr lang="en"/>
              <a:t> is when we need to perform for e.g an inline editable table. What we can do in this case is to wrap the td item in link to tag which would hit a path and based on params passed we can fetch what field to replace the cell with in the path without handling anything at controller level. </a:t>
            </a:r>
            <a:br>
              <a:rPr lang="en"/>
            </a:br>
            <a:br>
              <a:rPr lang="en"/>
            </a:br>
            <a:r>
              <a:rPr lang="en"/>
              <a:t>Demo: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2400250" y="575950"/>
            <a:ext cx="6321600" cy="47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2300"/>
              <a:t>One of my personally experience data tag</a:t>
            </a:r>
            <a:endParaRPr b="0" sz="2300"/>
          </a:p>
        </p:txBody>
      </p:sp>
      <p:sp>
        <p:nvSpPr>
          <p:cNvPr id="123" name="Google Shape;123;p21"/>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Data-turbo-frame: This attribute if placed on a link tag or a form tag allows you to fetch a frame from the link path and replace a frame in the your dom with that.</a:t>
            </a:r>
            <a:endParaRPr/>
          </a:p>
          <a:p>
            <a:pPr indent="0" lvl="0" marL="0" rtl="0" algn="l">
              <a:spcBef>
                <a:spcPts val="1600"/>
              </a:spcBef>
              <a:spcAft>
                <a:spcPts val="0"/>
              </a:spcAft>
              <a:buNone/>
            </a:pPr>
            <a:r>
              <a:rPr lang="en"/>
              <a:t>In a form like in case we want to display a result card after a quiz is completed once the form is submitted we can show the result in a turboframe tag anywhere in the dom.</a:t>
            </a:r>
            <a:br>
              <a:rPr lang="en"/>
            </a:br>
            <a:br>
              <a:rPr lang="en"/>
            </a:br>
            <a:r>
              <a:rPr lang="en"/>
              <a:t>Demo:</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